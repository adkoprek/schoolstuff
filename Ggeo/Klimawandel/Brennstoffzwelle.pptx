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3"/>
    <p:sldId id="258" r:id="rId4"/>
    <p:sldId id="259" r:id="rId5"/>
    <p:sldId id="302" r:id="rId6"/>
    <p:sldId id="299" r:id="rId7"/>
    <p:sldId id="300" r:id="rId8"/>
    <p:sldId id="301" r:id="rId9"/>
    <p:sldId id="260" r:id="rId10"/>
    <p:sldId id="338" r:id="rId11"/>
    <p:sldId id="337" r:id="rId12"/>
    <p:sldId id="340" r:id="rId13"/>
    <p:sldId id="342" r:id="rId14"/>
    <p:sldId id="261" r:id="rId15"/>
    <p:sldId id="343" r:id="rId16"/>
    <p:sldId id="266" r:id="rId17"/>
    <p:sldId id="270" r:id="rId18"/>
    <p:sldId id="267" r:id="rId19"/>
    <p:sldId id="269" r:id="rId20"/>
    <p:sldId id="268" r:id="rId21"/>
    <p:sldId id="271" r:id="rId22"/>
    <p:sldId id="273" r:id="rId23"/>
    <p:sldId id="274" r:id="rId24"/>
    <p:sldId id="281" r:id="rId25"/>
    <p:sldId id="284" r:id="rId26"/>
    <p:sldId id="285" r:id="rId27"/>
    <p:sldId id="287" r:id="rId28"/>
    <p:sldId id="288" r:id="rId29"/>
    <p:sldId id="298" r:id="rId30"/>
    <p:sldId id="289" r:id="rId31"/>
    <p:sldId id="290" r:id="rId32"/>
    <p:sldId id="292" r:id="rId33"/>
    <p:sldId id="293" r:id="rId34"/>
    <p:sldId id="297" r:id="rId35"/>
    <p:sldId id="294" r:id="rId36"/>
    <p:sldId id="295" r:id="rId37"/>
    <p:sldId id="264" r:id="rId38"/>
    <p:sldId id="304" r:id="rId39"/>
    <p:sldId id="303" r:id="rId40"/>
    <p:sldId id="305" r:id="rId41"/>
    <p:sldId id="306" r:id="rId42"/>
    <p:sldId id="380" r:id="rId43"/>
    <p:sldId id="263" r:id="rId44"/>
    <p:sldId id="374" r:id="rId45"/>
    <p:sldId id="375" r:id="rId46"/>
    <p:sldId id="376" r:id="rId47"/>
    <p:sldId id="377" r:id="rId48"/>
    <p:sldId id="378" r:id="rId49"/>
    <p:sldId id="379" r:id="rId50"/>
    <p:sldId id="265" r:id="rId51"/>
    <p:sldId id="381" r:id="rId52"/>
    <p:sldId id="382" r:id="rId53"/>
    <p:sldId id="391" r:id="rId5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D000B0"/>
    <a:srgbClr val="B2B2B2"/>
    <a:srgbClr val="202020"/>
    <a:srgbClr val="323232"/>
    <a:srgbClr val="CC3300"/>
    <a:srgbClr val="CC00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82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6270"/>
            <a:ext cx="14453870" cy="812990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12192000" y="-636905"/>
            <a:ext cx="4498975" cy="8129905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343765" y="244475"/>
            <a:ext cx="419544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en-US" sz="4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Brennstoffzellen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Brennstoffe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Elektrolyse - Vorwissen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Funktion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Anwendung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Bezug zum Klimwandel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Reflexion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Diskussion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61870" y="-636270"/>
            <a:ext cx="14453870" cy="812990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7693025" y="-636270"/>
            <a:ext cx="4498975" cy="8129905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844790" y="244475"/>
            <a:ext cx="419544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en-US" sz="4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Brennstoffzellen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Brennstoffe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Elektrolyse - Vorwissen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Funktion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Anwendung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Bezug zum Klimwandel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Reflexion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Diskussion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61870" y="6858000"/>
            <a:ext cx="14453870" cy="812990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7693025" y="6858000"/>
            <a:ext cx="4498975" cy="8130540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989830" y="236855"/>
            <a:ext cx="2480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Brennstoffe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844790" y="7738745"/>
            <a:ext cx="419544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en-US" sz="4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Brennstoffzellen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Brennstoffe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Elektrolyse - Vorwissen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Funktion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Anwendung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Bezug zum Klimwandel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Reflexion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Diskussion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61870" y="6858000"/>
            <a:ext cx="14453870" cy="812990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7693025" y="7494270"/>
            <a:ext cx="4498975" cy="6858000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844790" y="8060690"/>
            <a:ext cx="4195445" cy="5723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en-US" sz="4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Brenstoffzellen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Elektrolyse - Vorwissen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Funktion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Anwendung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Bezug zum Klimwandel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Reflexion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EB Garamond" charset="0"/>
                <a:cs typeface="EB Garamond" charset="0"/>
              </a:rPr>
              <a:t>Diskussion</a:t>
            </a:r>
            <a:endParaRPr lang="en-US" sz="2800">
              <a:solidFill>
                <a:schemeClr val="accent5">
                  <a:lumMod val="50000"/>
                </a:schemeClr>
              </a:solidFill>
              <a:latin typeface="EB Garamond" charset="0"/>
              <a:cs typeface="EB Garamond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989830" y="236855"/>
            <a:ext cx="2480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Brennstoffe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5980" y="4667885"/>
            <a:ext cx="16021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Wasserstoff 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6870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8816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6"/>
            <a:endCxn id="9" idx="2"/>
          </p:cNvCxnSpPr>
          <p:nvPr/>
        </p:nvCxnSpPr>
        <p:spPr>
          <a:xfrm>
            <a:off x="1525905" y="3383280"/>
            <a:ext cx="26225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89830" y="236855"/>
            <a:ext cx="2480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Brennstoffe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5980" y="4667885"/>
            <a:ext cx="16021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Wasserstoff 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6870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8816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6"/>
            <a:endCxn id="9" idx="2"/>
          </p:cNvCxnSpPr>
          <p:nvPr/>
        </p:nvCxnSpPr>
        <p:spPr>
          <a:xfrm>
            <a:off x="1525905" y="3383280"/>
            <a:ext cx="26225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8371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837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67792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283710" y="375602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8985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7188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/>
          <p:cNvCxnSpPr>
            <a:stCxn id="16" idx="3"/>
            <a:endCxn id="15" idx="7"/>
          </p:cNvCxnSpPr>
          <p:nvPr/>
        </p:nvCxnSpPr>
        <p:spPr>
          <a:xfrm flipH="1">
            <a:off x="5580380" y="2943860"/>
            <a:ext cx="205105" cy="27749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2"/>
            <a:endCxn id="11" idx="6"/>
          </p:cNvCxnSpPr>
          <p:nvPr/>
        </p:nvCxnSpPr>
        <p:spPr>
          <a:xfrm flipH="1">
            <a:off x="4740910" y="3383280"/>
            <a:ext cx="44894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0"/>
            <a:endCxn id="12" idx="4"/>
          </p:cNvCxnSpPr>
          <p:nvPr/>
        </p:nvCxnSpPr>
        <p:spPr>
          <a:xfrm flipV="1">
            <a:off x="4512310" y="3010535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2"/>
            <a:endCxn id="13" idx="6"/>
          </p:cNvCxnSpPr>
          <p:nvPr/>
        </p:nvCxnSpPr>
        <p:spPr>
          <a:xfrm flipH="1">
            <a:off x="4135120" y="3383280"/>
            <a:ext cx="14859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1" idx="4"/>
          </p:cNvCxnSpPr>
          <p:nvPr/>
        </p:nvCxnSpPr>
        <p:spPr>
          <a:xfrm flipV="1">
            <a:off x="4512310" y="3611880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4244975" y="4667885"/>
            <a:ext cx="13354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Methanol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89830" y="236855"/>
            <a:ext cx="2480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Brennstoffe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5980" y="4667885"/>
            <a:ext cx="16021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Wasserstoff 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6870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8816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6"/>
            <a:endCxn id="9" idx="2"/>
          </p:cNvCxnSpPr>
          <p:nvPr/>
        </p:nvCxnSpPr>
        <p:spPr>
          <a:xfrm>
            <a:off x="1525905" y="3383280"/>
            <a:ext cx="26225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8371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837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67792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283710" y="375602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8985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7188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/>
          <p:cNvCxnSpPr>
            <a:stCxn id="16" idx="3"/>
            <a:endCxn id="15" idx="7"/>
          </p:cNvCxnSpPr>
          <p:nvPr/>
        </p:nvCxnSpPr>
        <p:spPr>
          <a:xfrm flipH="1">
            <a:off x="5580380" y="2943860"/>
            <a:ext cx="205105" cy="27749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2"/>
            <a:endCxn id="11" idx="6"/>
          </p:cNvCxnSpPr>
          <p:nvPr/>
        </p:nvCxnSpPr>
        <p:spPr>
          <a:xfrm flipH="1">
            <a:off x="4740910" y="3383280"/>
            <a:ext cx="44894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0"/>
            <a:endCxn id="12" idx="4"/>
          </p:cNvCxnSpPr>
          <p:nvPr/>
        </p:nvCxnSpPr>
        <p:spPr>
          <a:xfrm flipV="1">
            <a:off x="4512310" y="3010535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2"/>
            <a:endCxn id="13" idx="6"/>
          </p:cNvCxnSpPr>
          <p:nvPr/>
        </p:nvCxnSpPr>
        <p:spPr>
          <a:xfrm flipH="1">
            <a:off x="4135120" y="3383280"/>
            <a:ext cx="14859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1" idx="4"/>
          </p:cNvCxnSpPr>
          <p:nvPr/>
        </p:nvCxnSpPr>
        <p:spPr>
          <a:xfrm flipV="1">
            <a:off x="4512310" y="3611880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9396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93965" y="24688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33437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593965" y="38404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685355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stCxn id="22" idx="2"/>
            <a:endCxn id="26" idx="6"/>
          </p:cNvCxnSpPr>
          <p:nvPr/>
        </p:nvCxnSpPr>
        <p:spPr>
          <a:xfrm flipH="1">
            <a:off x="7310755" y="3383280"/>
            <a:ext cx="28321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2" idx="0"/>
            <a:endCxn id="23" idx="4"/>
          </p:cNvCxnSpPr>
          <p:nvPr/>
        </p:nvCxnSpPr>
        <p:spPr>
          <a:xfrm flipV="1">
            <a:off x="7822565" y="2926080"/>
            <a:ext cx="0" cy="2286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5" idx="0"/>
            <a:endCxn id="22" idx="4"/>
          </p:cNvCxnSpPr>
          <p:nvPr/>
        </p:nvCxnSpPr>
        <p:spPr>
          <a:xfrm flipV="1">
            <a:off x="7822565" y="3611880"/>
            <a:ext cx="0" cy="2286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4" idx="2"/>
            <a:endCxn id="22" idx="6"/>
          </p:cNvCxnSpPr>
          <p:nvPr/>
        </p:nvCxnSpPr>
        <p:spPr>
          <a:xfrm flipH="1">
            <a:off x="8051165" y="3383280"/>
            <a:ext cx="28321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4244975" y="4667885"/>
            <a:ext cx="13354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Methanol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7266940" y="4667885"/>
            <a:ext cx="11112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Methan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89830" y="236855"/>
            <a:ext cx="2480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Brennstoffe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5980" y="4667885"/>
            <a:ext cx="16021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Wasserstoff 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6870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8816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6"/>
            <a:endCxn id="9" idx="2"/>
          </p:cNvCxnSpPr>
          <p:nvPr/>
        </p:nvCxnSpPr>
        <p:spPr>
          <a:xfrm>
            <a:off x="1525905" y="3383280"/>
            <a:ext cx="26225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8371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837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677920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283710" y="375602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8985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718810" y="25533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/>
          <p:cNvCxnSpPr>
            <a:stCxn id="16" idx="3"/>
            <a:endCxn id="15" idx="7"/>
          </p:cNvCxnSpPr>
          <p:nvPr/>
        </p:nvCxnSpPr>
        <p:spPr>
          <a:xfrm flipH="1">
            <a:off x="5580380" y="2943860"/>
            <a:ext cx="205105" cy="27749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2"/>
            <a:endCxn id="11" idx="6"/>
          </p:cNvCxnSpPr>
          <p:nvPr/>
        </p:nvCxnSpPr>
        <p:spPr>
          <a:xfrm flipH="1">
            <a:off x="4740910" y="3383280"/>
            <a:ext cx="448945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0"/>
            <a:endCxn id="12" idx="4"/>
          </p:cNvCxnSpPr>
          <p:nvPr/>
        </p:nvCxnSpPr>
        <p:spPr>
          <a:xfrm flipV="1">
            <a:off x="4512310" y="3010535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2"/>
            <a:endCxn id="13" idx="6"/>
          </p:cNvCxnSpPr>
          <p:nvPr/>
        </p:nvCxnSpPr>
        <p:spPr>
          <a:xfrm flipH="1">
            <a:off x="4135120" y="3383280"/>
            <a:ext cx="14859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1" idx="4"/>
          </p:cNvCxnSpPr>
          <p:nvPr/>
        </p:nvCxnSpPr>
        <p:spPr>
          <a:xfrm flipV="1">
            <a:off x="4512310" y="3611880"/>
            <a:ext cx="0" cy="14414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9396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93965" y="24688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33437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593965" y="38404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6853555" y="31546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stCxn id="22" idx="2"/>
            <a:endCxn id="26" idx="6"/>
          </p:cNvCxnSpPr>
          <p:nvPr/>
        </p:nvCxnSpPr>
        <p:spPr>
          <a:xfrm flipH="1">
            <a:off x="7310755" y="3383280"/>
            <a:ext cx="28321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2" idx="0"/>
            <a:endCxn id="23" idx="4"/>
          </p:cNvCxnSpPr>
          <p:nvPr/>
        </p:nvCxnSpPr>
        <p:spPr>
          <a:xfrm flipV="1">
            <a:off x="7822565" y="2926080"/>
            <a:ext cx="0" cy="2286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5" idx="0"/>
            <a:endCxn id="22" idx="4"/>
          </p:cNvCxnSpPr>
          <p:nvPr/>
        </p:nvCxnSpPr>
        <p:spPr>
          <a:xfrm flipV="1">
            <a:off x="7822565" y="3611880"/>
            <a:ext cx="0" cy="2286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4" idx="2"/>
            <a:endCxn id="22" idx="6"/>
          </p:cNvCxnSpPr>
          <p:nvPr/>
        </p:nvCxnSpPr>
        <p:spPr>
          <a:xfrm flipH="1">
            <a:off x="8051165" y="3383280"/>
            <a:ext cx="283210" cy="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356215" y="32054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356215" y="246888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980420" y="376618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9737090" y="377634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Straight Connector 35"/>
          <p:cNvCxnSpPr>
            <a:stCxn id="33" idx="4"/>
            <a:endCxn id="32" idx="0"/>
          </p:cNvCxnSpPr>
          <p:nvPr/>
        </p:nvCxnSpPr>
        <p:spPr>
          <a:xfrm>
            <a:off x="10584815" y="2926080"/>
            <a:ext cx="0" cy="2794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4" idx="1"/>
            <a:endCxn id="32" idx="5"/>
          </p:cNvCxnSpPr>
          <p:nvPr/>
        </p:nvCxnSpPr>
        <p:spPr>
          <a:xfrm flipH="1" flipV="1">
            <a:off x="10746740" y="3596005"/>
            <a:ext cx="300355" cy="23685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7"/>
            <a:endCxn id="32" idx="3"/>
          </p:cNvCxnSpPr>
          <p:nvPr/>
        </p:nvCxnSpPr>
        <p:spPr>
          <a:xfrm flipV="1">
            <a:off x="10127615" y="3596005"/>
            <a:ext cx="295275" cy="247015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4244975" y="4667885"/>
            <a:ext cx="13354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Methanol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7266940" y="4667885"/>
            <a:ext cx="11112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Methan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10064750" y="4661535"/>
            <a:ext cx="12820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Amoniak</a:t>
            </a:r>
            <a:endParaRPr lang="en-US" sz="2400" baseline="-250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939030" y="-70675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39030" y="20510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39030" y="20510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197735" y="320040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112135" y="320040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5"/>
            <a:endCxn id="3" idx="1"/>
          </p:cNvCxnSpPr>
          <p:nvPr/>
        </p:nvCxnSpPr>
        <p:spPr>
          <a:xfrm>
            <a:off x="2588260" y="3590925"/>
            <a:ext cx="133350" cy="20701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2654935" y="373126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>
            <a:stCxn id="9" idx="3"/>
            <a:endCxn id="3" idx="7"/>
          </p:cNvCxnSpPr>
          <p:nvPr/>
        </p:nvCxnSpPr>
        <p:spPr>
          <a:xfrm flipH="1">
            <a:off x="3045460" y="3590925"/>
            <a:ext cx="133350" cy="20701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39030" y="20510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197735" y="320040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112135" y="320040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6" idx="5"/>
            <a:endCxn id="3" idx="1"/>
          </p:cNvCxnSpPr>
          <p:nvPr/>
        </p:nvCxnSpPr>
        <p:spPr>
          <a:xfrm>
            <a:off x="2588260" y="3590925"/>
            <a:ext cx="133350" cy="20701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2654935" y="3731260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>
            <a:stCxn id="9" idx="3"/>
            <a:endCxn id="3" idx="7"/>
          </p:cNvCxnSpPr>
          <p:nvPr/>
        </p:nvCxnSpPr>
        <p:spPr>
          <a:xfrm flipH="1">
            <a:off x="3045460" y="3590925"/>
            <a:ext cx="133350" cy="20701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563610" y="33407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51315" y="3340735"/>
            <a:ext cx="457200" cy="457200"/>
          </a:xfrm>
          <a:prstGeom prst="ellipse">
            <a:avLst/>
          </a:prstGeom>
          <a:noFill/>
          <a:ln w="2540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665980" y="3348355"/>
            <a:ext cx="2800350" cy="449580"/>
          </a:xfrm>
          <a:prstGeom prst="rightArrow">
            <a:avLst>
              <a:gd name="adj1" fmla="val 27118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3155950" y="574040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939030" y="20510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 flipH="1">
            <a:off x="797560" y="4619625"/>
            <a:ext cx="5715" cy="1642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91210" y="6238875"/>
            <a:ext cx="10739755" cy="114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1525250" y="4619625"/>
            <a:ext cx="5715" cy="1642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47390" y="58813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46!!"/>
          <p:cNvSpPr/>
          <p:nvPr/>
        </p:nvSpPr>
        <p:spPr>
          <a:xfrm rot="12420000">
            <a:off x="3244850" y="5774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127125" y="56267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218565" y="57677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46!!"/>
          <p:cNvSpPr/>
          <p:nvPr/>
        </p:nvSpPr>
        <p:spPr>
          <a:xfrm rot="12420000">
            <a:off x="1216025" y="566102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354070" y="52425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445510" y="538353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Oval46!!"/>
          <p:cNvSpPr/>
          <p:nvPr/>
        </p:nvSpPr>
        <p:spPr>
          <a:xfrm rot="12420000">
            <a:off x="3442970" y="527685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888740" y="56705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980180" y="58115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46!!"/>
          <p:cNvSpPr/>
          <p:nvPr/>
        </p:nvSpPr>
        <p:spPr>
          <a:xfrm rot="12420000">
            <a:off x="3977640" y="570484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643380" y="472440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734820" y="48653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46!!"/>
          <p:cNvSpPr/>
          <p:nvPr/>
        </p:nvSpPr>
        <p:spPr>
          <a:xfrm rot="12420000">
            <a:off x="1732280" y="4758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493260" y="512889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584700" y="526986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Oval46!!"/>
          <p:cNvSpPr/>
          <p:nvPr/>
        </p:nvSpPr>
        <p:spPr>
          <a:xfrm rot="12420000">
            <a:off x="4582160" y="516318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323840" y="56286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415280" y="57696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Oval46!!"/>
          <p:cNvSpPr/>
          <p:nvPr/>
        </p:nvSpPr>
        <p:spPr>
          <a:xfrm rot="12420000">
            <a:off x="5412740" y="566293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140960" y="49460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32400" y="50869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Oval46!!"/>
          <p:cNvSpPr/>
          <p:nvPr/>
        </p:nvSpPr>
        <p:spPr>
          <a:xfrm rot="12420000">
            <a:off x="5229860" y="49803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852420" y="46901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943860" y="48310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Oval46!!"/>
          <p:cNvSpPr/>
          <p:nvPr/>
        </p:nvSpPr>
        <p:spPr>
          <a:xfrm rot="12420000">
            <a:off x="2941320" y="472440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8151495" y="52768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242935" y="54178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Oval46!!"/>
          <p:cNvSpPr/>
          <p:nvPr/>
        </p:nvSpPr>
        <p:spPr>
          <a:xfrm rot="12420000">
            <a:off x="8240395" y="531114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956675" y="54254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9048115" y="55664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46!!"/>
          <p:cNvSpPr/>
          <p:nvPr/>
        </p:nvSpPr>
        <p:spPr>
          <a:xfrm rot="12420000">
            <a:off x="9045575" y="545973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9491345" y="585343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Oval46!!"/>
          <p:cNvSpPr/>
          <p:nvPr/>
        </p:nvSpPr>
        <p:spPr>
          <a:xfrm rot="12420000">
            <a:off x="9580245" y="58877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389870" y="53778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481310" y="55187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46!!"/>
          <p:cNvSpPr/>
          <p:nvPr/>
        </p:nvSpPr>
        <p:spPr>
          <a:xfrm rot="12420000">
            <a:off x="10478770" y="54121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926445" y="58115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Oval46!!"/>
          <p:cNvSpPr/>
          <p:nvPr/>
        </p:nvSpPr>
        <p:spPr>
          <a:xfrm rot="12420000">
            <a:off x="11015345" y="58458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0743565" y="512889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0835005" y="526986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Oval46!!"/>
          <p:cNvSpPr/>
          <p:nvPr/>
        </p:nvSpPr>
        <p:spPr>
          <a:xfrm rot="12420000">
            <a:off x="10832465" y="516318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9077325" y="487299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168765" y="50139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Oval46!!"/>
          <p:cNvSpPr/>
          <p:nvPr/>
        </p:nvSpPr>
        <p:spPr>
          <a:xfrm rot="12420000">
            <a:off x="9166225" y="49072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1930" y="53524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43370" y="54933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Oval46!!"/>
          <p:cNvSpPr/>
          <p:nvPr/>
        </p:nvSpPr>
        <p:spPr>
          <a:xfrm rot="12420000">
            <a:off x="6640830" y="53867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924550" y="57797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015990" y="59207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Oval46!!"/>
          <p:cNvSpPr/>
          <p:nvPr/>
        </p:nvSpPr>
        <p:spPr>
          <a:xfrm rot="12420000">
            <a:off x="6013450" y="581406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12815" y="498284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104255" y="51238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Oval46!!"/>
          <p:cNvSpPr/>
          <p:nvPr/>
        </p:nvSpPr>
        <p:spPr>
          <a:xfrm rot="12420000">
            <a:off x="6101715" y="501713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161530" y="49460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252970" y="50869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Oval46!!"/>
          <p:cNvSpPr/>
          <p:nvPr/>
        </p:nvSpPr>
        <p:spPr>
          <a:xfrm rot="12420000">
            <a:off x="7250430" y="49803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7127240" y="573659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7218680" y="58775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Oval46!!"/>
          <p:cNvSpPr/>
          <p:nvPr/>
        </p:nvSpPr>
        <p:spPr>
          <a:xfrm rot="12420000">
            <a:off x="7216140" y="57708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7968615" y="57823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060055" y="59232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Oval46!!"/>
          <p:cNvSpPr/>
          <p:nvPr/>
        </p:nvSpPr>
        <p:spPr>
          <a:xfrm rot="12420000">
            <a:off x="8057515" y="581660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Rectangles 100"/>
          <p:cNvSpPr/>
          <p:nvPr/>
        </p:nvSpPr>
        <p:spPr>
          <a:xfrm>
            <a:off x="2160905" y="-3145790"/>
            <a:ext cx="201930" cy="29406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Text Box 101"/>
          <p:cNvSpPr txBox="1"/>
          <p:nvPr/>
        </p:nvSpPr>
        <p:spPr>
          <a:xfrm>
            <a:off x="1499235" y="-4058920"/>
            <a:ext cx="154114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  <a:sym typeface="+mn-ea"/>
              </a:rPr>
              <a:t>Kathode (-)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  <a:sym typeface="+mn-ea"/>
              </a:rPr>
              <a:t>Wasserstoff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105" name="Rectangles 104"/>
          <p:cNvSpPr/>
          <p:nvPr/>
        </p:nvSpPr>
        <p:spPr>
          <a:xfrm>
            <a:off x="10027285" y="-3023235"/>
            <a:ext cx="201930" cy="29406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Text Box 105"/>
          <p:cNvSpPr txBox="1"/>
          <p:nvPr/>
        </p:nvSpPr>
        <p:spPr>
          <a:xfrm>
            <a:off x="9422765" y="-3940175"/>
            <a:ext cx="1410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Anode (+)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Sauerstoff</a:t>
            </a:r>
            <a:endParaRPr lang="en-US" sz="24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3155950" y="574040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939030" y="205105"/>
            <a:ext cx="2313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Elektrolyse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 flipH="1">
            <a:off x="797560" y="4619625"/>
            <a:ext cx="5715" cy="1642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91210" y="6238875"/>
            <a:ext cx="10739755" cy="114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1525250" y="4619625"/>
            <a:ext cx="5715" cy="1642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47390" y="58813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46!!"/>
          <p:cNvSpPr/>
          <p:nvPr/>
        </p:nvSpPr>
        <p:spPr>
          <a:xfrm rot="12420000">
            <a:off x="3244850" y="5774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127125" y="56267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218565" y="57677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46!!"/>
          <p:cNvSpPr/>
          <p:nvPr/>
        </p:nvSpPr>
        <p:spPr>
          <a:xfrm rot="12420000">
            <a:off x="1216025" y="566102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354070" y="52425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445510" y="538353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Oval46!!"/>
          <p:cNvSpPr/>
          <p:nvPr/>
        </p:nvSpPr>
        <p:spPr>
          <a:xfrm rot="12420000">
            <a:off x="3442970" y="527685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888740" y="56705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980180" y="58115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46!!"/>
          <p:cNvSpPr/>
          <p:nvPr/>
        </p:nvSpPr>
        <p:spPr>
          <a:xfrm rot="12420000">
            <a:off x="3977640" y="570484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643380" y="472440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734820" y="48653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46!!"/>
          <p:cNvSpPr/>
          <p:nvPr/>
        </p:nvSpPr>
        <p:spPr>
          <a:xfrm rot="12420000">
            <a:off x="1732280" y="4758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493260" y="512889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584700" y="526986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Oval46!!"/>
          <p:cNvSpPr/>
          <p:nvPr/>
        </p:nvSpPr>
        <p:spPr>
          <a:xfrm rot="12420000">
            <a:off x="4582160" y="516318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323840" y="56286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415280" y="57696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Oval46!!"/>
          <p:cNvSpPr/>
          <p:nvPr/>
        </p:nvSpPr>
        <p:spPr>
          <a:xfrm rot="12420000">
            <a:off x="5412740" y="566293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140960" y="49460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32400" y="50869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Oval46!!"/>
          <p:cNvSpPr/>
          <p:nvPr/>
        </p:nvSpPr>
        <p:spPr>
          <a:xfrm rot="12420000">
            <a:off x="5229860" y="49803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852420" y="46901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943860" y="48310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Oval46!!"/>
          <p:cNvSpPr/>
          <p:nvPr/>
        </p:nvSpPr>
        <p:spPr>
          <a:xfrm rot="12420000">
            <a:off x="2941320" y="472440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8151495" y="52768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242935" y="54178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Oval46!!"/>
          <p:cNvSpPr/>
          <p:nvPr/>
        </p:nvSpPr>
        <p:spPr>
          <a:xfrm rot="12420000">
            <a:off x="8240395" y="531114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956675" y="54254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9048115" y="55664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46!!"/>
          <p:cNvSpPr/>
          <p:nvPr/>
        </p:nvSpPr>
        <p:spPr>
          <a:xfrm rot="12420000">
            <a:off x="9045575" y="545973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9491345" y="585343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Oval46!!"/>
          <p:cNvSpPr/>
          <p:nvPr/>
        </p:nvSpPr>
        <p:spPr>
          <a:xfrm rot="12420000">
            <a:off x="9580245" y="58877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389870" y="53778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481310" y="55187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46!!"/>
          <p:cNvSpPr/>
          <p:nvPr/>
        </p:nvSpPr>
        <p:spPr>
          <a:xfrm rot="12420000">
            <a:off x="10478770" y="54121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926445" y="581152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Oval46!!"/>
          <p:cNvSpPr/>
          <p:nvPr/>
        </p:nvSpPr>
        <p:spPr>
          <a:xfrm rot="12420000">
            <a:off x="11015345" y="58458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0743565" y="512889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0835005" y="526986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Oval46!!"/>
          <p:cNvSpPr/>
          <p:nvPr/>
        </p:nvSpPr>
        <p:spPr>
          <a:xfrm rot="12420000">
            <a:off x="10832465" y="516318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9077325" y="487299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168765" y="50139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Oval46!!"/>
          <p:cNvSpPr/>
          <p:nvPr/>
        </p:nvSpPr>
        <p:spPr>
          <a:xfrm rot="12420000">
            <a:off x="9166225" y="49072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1930" y="53524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43370" y="54933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Oval46!!"/>
          <p:cNvSpPr/>
          <p:nvPr/>
        </p:nvSpPr>
        <p:spPr>
          <a:xfrm rot="12420000">
            <a:off x="6640830" y="53867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924550" y="57797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015990" y="59207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Oval46!!"/>
          <p:cNvSpPr/>
          <p:nvPr/>
        </p:nvSpPr>
        <p:spPr>
          <a:xfrm rot="12420000">
            <a:off x="6013450" y="581406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12815" y="498284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104255" y="51238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Oval46!!"/>
          <p:cNvSpPr/>
          <p:nvPr/>
        </p:nvSpPr>
        <p:spPr>
          <a:xfrm rot="12420000">
            <a:off x="6101715" y="501713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161530" y="49460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252970" y="50869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Oval46!!"/>
          <p:cNvSpPr/>
          <p:nvPr/>
        </p:nvSpPr>
        <p:spPr>
          <a:xfrm rot="12420000">
            <a:off x="7250430" y="49803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7127240" y="573659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7218680" y="587756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Oval46!!"/>
          <p:cNvSpPr/>
          <p:nvPr/>
        </p:nvSpPr>
        <p:spPr>
          <a:xfrm rot="12420000">
            <a:off x="7216140" y="57708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7968615" y="578231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060055" y="59232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Oval46!!"/>
          <p:cNvSpPr/>
          <p:nvPr/>
        </p:nvSpPr>
        <p:spPr>
          <a:xfrm rot="12420000">
            <a:off x="8057515" y="581660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Rectangles 93"/>
          <p:cNvSpPr/>
          <p:nvPr/>
        </p:nvSpPr>
        <p:spPr>
          <a:xfrm>
            <a:off x="2160905" y="3119755"/>
            <a:ext cx="201930" cy="29406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Rectangles 94"/>
          <p:cNvSpPr/>
          <p:nvPr/>
        </p:nvSpPr>
        <p:spPr>
          <a:xfrm>
            <a:off x="10027285" y="3123565"/>
            <a:ext cx="201930" cy="29406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Text Box 95"/>
          <p:cNvSpPr txBox="1"/>
          <p:nvPr/>
        </p:nvSpPr>
        <p:spPr>
          <a:xfrm>
            <a:off x="9422765" y="2206625"/>
            <a:ext cx="1410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Anode (+)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Sauerstoff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98" name="Text Box 97"/>
          <p:cNvSpPr txBox="1"/>
          <p:nvPr/>
        </p:nvSpPr>
        <p:spPr>
          <a:xfrm>
            <a:off x="1499235" y="2206625"/>
            <a:ext cx="154114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  <a:sym typeface="+mn-ea"/>
              </a:rPr>
              <a:t>Kathode (-)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  <a:sym typeface="+mn-ea"/>
              </a:rPr>
              <a:t>Wasserstoff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085715" y="-810895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43966e-06 0 C -0.0105233 0.00416667 -0.0392435 0.047963 -0.0548686 -0.00518519 C -0.0704935 -0.0583333 -0.0745611 -0.213611 -0.0781325 -0.265556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12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36725e-06 0 C -0.0224262 -0.00611111 -0.0877391 0.00314815 -0.113546 -0.0537963 C -0.139353 -0.110741 -0.128117 -0.23963 -0.128938 -0.284722 " pathEditMode="relative" rAng="0" ptsTypes="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1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8893e-05 0 C 0.0849437 0.0012963 0.329162 0.0339815 0.433443 -0.0174074 C 0.537723 -0.0687963 0.512544 -0.209352 0.52147 -0.256944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" y="-1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0" name="Rectangles 9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95350" y="45262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40435" y="46240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30!!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46!!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74590" y="-299466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-1002665" y="2155190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1281747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 rot="5400000">
            <a:off x="772985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-1454150" y="6250940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26058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115" y="-2001520"/>
            <a:ext cx="2001520" cy="2001520"/>
          </a:xfrm>
          <a:prstGeom prst="rect">
            <a:avLst/>
          </a:prstGeom>
        </p:spPr>
      </p:pic>
      <p:sp>
        <p:nvSpPr>
          <p:cNvPr id="10" name="Rectangles 9"/>
          <p:cNvSpPr/>
          <p:nvPr/>
        </p:nvSpPr>
        <p:spPr>
          <a:xfrm rot="5400000">
            <a:off x="416369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5991860" y="1217930"/>
            <a:ext cx="208280" cy="4297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-3265805" y="37261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-3220720" y="38239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-3414395" y="41084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-3369310" y="42062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-3231515" y="460184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3186430" y="46996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0800000">
            <a:off x="1339913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 rot="12420000">
            <a:off x="1550289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rot="12420000">
            <a:off x="1554797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 rot="12420000">
            <a:off x="1535430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 rot="12420000">
            <a:off x="1539938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30"/>
          <p:cNvSpPr/>
          <p:nvPr/>
        </p:nvSpPr>
        <p:spPr>
          <a:xfrm rot="12420000">
            <a:off x="1510855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12420000">
            <a:off x="1515364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-2635885" y="391223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-2379980" y="4062730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391602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38" name="Oval 1101!!"/>
          <p:cNvSpPr/>
          <p:nvPr/>
        </p:nvSpPr>
        <p:spPr>
          <a:xfrm>
            <a:off x="3768090" y="24295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Oval 100!!"/>
          <p:cNvSpPr/>
          <p:nvPr/>
        </p:nvSpPr>
        <p:spPr>
          <a:xfrm>
            <a:off x="3898900" y="26104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>
            <a:off x="4552950" y="2429510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Plus 40"/>
          <p:cNvSpPr/>
          <p:nvPr/>
        </p:nvSpPr>
        <p:spPr>
          <a:xfrm rot="2820000">
            <a:off x="4565650" y="2327275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10800000">
            <a:off x="6641465" y="2433955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Plus 44"/>
          <p:cNvSpPr/>
          <p:nvPr/>
        </p:nvSpPr>
        <p:spPr>
          <a:xfrm rot="2820000">
            <a:off x="6783070" y="2299970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 rot="12420000">
            <a:off x="7930559" y="236748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 rot="12420000">
            <a:off x="7990249" y="259354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s 10"/>
          <p:cNvSpPr/>
          <p:nvPr/>
        </p:nvSpPr>
        <p:spPr>
          <a:xfrm>
            <a:off x="5991860" y="1217930"/>
            <a:ext cx="208280" cy="4297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98900" y="425704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/>
              <a:t>H</a:t>
            </a:r>
            <a:r>
              <a:rPr lang="en-US" sz="1600" baseline="30000"/>
              <a:t>+</a:t>
            </a:r>
            <a:endParaRPr lang="en-US" sz="1600" baseline="30000"/>
          </a:p>
        </p:txBody>
      </p:sp>
      <p:sp>
        <p:nvSpPr>
          <p:cNvPr id="38" name="Oval 1101!!"/>
          <p:cNvSpPr/>
          <p:nvPr/>
        </p:nvSpPr>
        <p:spPr>
          <a:xfrm>
            <a:off x="3768090" y="24295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Oval 100!!"/>
          <p:cNvSpPr/>
          <p:nvPr/>
        </p:nvSpPr>
        <p:spPr>
          <a:xfrm>
            <a:off x="3898900" y="26104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>
            <a:off x="4552950" y="2429510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Plus 40"/>
          <p:cNvSpPr/>
          <p:nvPr/>
        </p:nvSpPr>
        <p:spPr>
          <a:xfrm rot="2820000">
            <a:off x="4565650" y="2327275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10800000">
            <a:off x="6641465" y="2433955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Plus 44"/>
          <p:cNvSpPr/>
          <p:nvPr/>
        </p:nvSpPr>
        <p:spPr>
          <a:xfrm rot="2820000">
            <a:off x="6783070" y="2299970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 rot="12420000">
            <a:off x="7930559" y="236748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 rot="12420000">
            <a:off x="7990249" y="259354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74590" y="-299466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-1002665" y="2155190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1281747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 rot="5400000">
            <a:off x="772985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-1454150" y="6250940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26058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115" y="-2001520"/>
            <a:ext cx="2001520" cy="2001520"/>
          </a:xfrm>
          <a:prstGeom prst="rect">
            <a:avLst/>
          </a:prstGeom>
        </p:spPr>
      </p:pic>
      <p:sp>
        <p:nvSpPr>
          <p:cNvPr id="10" name="Rectangles 9"/>
          <p:cNvSpPr/>
          <p:nvPr/>
        </p:nvSpPr>
        <p:spPr>
          <a:xfrm rot="5400000">
            <a:off x="416369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5991860" y="1217930"/>
            <a:ext cx="208280" cy="4297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-3265805" y="37261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-3220720" y="38239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-3414395" y="41084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-3369310" y="42062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-3231515" y="460184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3186430" y="46996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0800000">
            <a:off x="1339913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 rot="12420000">
            <a:off x="1550289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rot="12420000">
            <a:off x="1554797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 rot="12420000">
            <a:off x="1535430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 rot="12420000">
            <a:off x="1539938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 rot="12420000">
            <a:off x="1510855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12420000">
            <a:off x="1515364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-2635885" y="391223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-2379980" y="4062730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391602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768090" y="24295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898900" y="26104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552950" y="2429510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10800000">
            <a:off x="6641465" y="2433955"/>
            <a:ext cx="979170" cy="390525"/>
          </a:xfrm>
          <a:prstGeom prst="rightArrow">
            <a:avLst>
              <a:gd name="adj1" fmla="val 18589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Plus 25"/>
          <p:cNvSpPr/>
          <p:nvPr/>
        </p:nvSpPr>
        <p:spPr>
          <a:xfrm rot="2820000">
            <a:off x="4565650" y="2327275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Plus 32"/>
          <p:cNvSpPr/>
          <p:nvPr/>
        </p:nvSpPr>
        <p:spPr>
          <a:xfrm rot="2820000">
            <a:off x="6783070" y="2299970"/>
            <a:ext cx="681990" cy="657860"/>
          </a:xfrm>
          <a:prstGeom prst="mathPlus">
            <a:avLst>
              <a:gd name="adj1" fmla="val 17943"/>
            </a:avLst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927340" y="42926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>
                <a:sym typeface="+mn-ea"/>
              </a:rPr>
              <a:t>H</a:t>
            </a:r>
            <a:r>
              <a:rPr lang="en-US" baseline="30000">
                <a:sym typeface="+mn-ea"/>
              </a:rPr>
              <a:t>+</a:t>
            </a:r>
            <a:endParaRPr lang="en-US"/>
          </a:p>
        </p:txBody>
      </p:sp>
      <p:sp>
        <p:nvSpPr>
          <p:cNvPr id="51" name="Oval 50"/>
          <p:cNvSpPr/>
          <p:nvPr/>
        </p:nvSpPr>
        <p:spPr>
          <a:xfrm rot="12420000">
            <a:off x="7930559" y="236748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 rot="12420000">
            <a:off x="7990249" y="259354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74590" y="-299466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-1002665" y="2155190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1281747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 rot="5400000">
            <a:off x="772985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-1454150" y="6250940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26058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115" y="-2001520"/>
            <a:ext cx="2001520" cy="2001520"/>
          </a:xfrm>
          <a:prstGeom prst="rect">
            <a:avLst/>
          </a:prstGeom>
        </p:spPr>
      </p:pic>
      <p:sp>
        <p:nvSpPr>
          <p:cNvPr id="10" name="Rectangles 9"/>
          <p:cNvSpPr/>
          <p:nvPr/>
        </p:nvSpPr>
        <p:spPr>
          <a:xfrm rot="5400000">
            <a:off x="4163695" y="-22555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5991860" y="1217930"/>
            <a:ext cx="208280" cy="4297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-3265805" y="37261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-3220720" y="38239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-3414395" y="410845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-3369310" y="420624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-3231515" y="460184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-3186430" y="46996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>
                <a:solidFill>
                  <a:srgbClr val="FF0000"/>
                </a:solidFill>
              </a:rPr>
              <a:t>H</a:t>
            </a:r>
            <a:endParaRPr lang="en-US" sz="1000">
              <a:solidFill>
                <a:srgbClr val="FF0000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 rot="10800000">
            <a:off x="1339913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 rot="12420000">
            <a:off x="1550289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rot="12420000">
            <a:off x="1554797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 rot="12420000">
            <a:off x="1535430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 rot="12420000">
            <a:off x="1539938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 rot="12420000">
            <a:off x="1510855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12420000">
            <a:off x="1515364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-2635885" y="391223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-2379980" y="4062730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391602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 advTm="0">
        <p159:morph option="byObject"/>
      </p:transition>
    </mc:Choice>
    <mc:Fallback>
      <p:transition spd="med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95350" y="452628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00">
                <a:solidFill>
                  <a:srgbClr val="FF0000"/>
                </a:solidFill>
              </a:rPr>
              <a:t>H</a:t>
            </a:r>
            <a:endParaRPr lang="en-US" sz="700">
              <a:solidFill>
                <a:srgbClr val="FF0000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940435" y="4624070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00" baseline="30000">
                <a:solidFill>
                  <a:srgbClr val="FF0000"/>
                </a:solidFill>
              </a:rPr>
              <a:t>H</a:t>
            </a:r>
            <a:endParaRPr lang="en-US" sz="800" baseline="30000">
              <a:solidFill>
                <a:srgbClr val="FF0000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662045" y="398970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FF3300"/>
                </a:solidFill>
              </a:rPr>
              <a:t>H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3770630" y="415734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FF3300"/>
                </a:solidFill>
              </a:rPr>
              <a:t>H</a:t>
            </a:r>
            <a:endParaRPr lang="en-US">
              <a:solidFill>
                <a:srgbClr val="FF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04945" y="377698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3" name="Oval 2"/>
          <p:cNvSpPr/>
          <p:nvPr/>
        </p:nvSpPr>
        <p:spPr>
          <a:xfrm>
            <a:off x="4004945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4" name="Oval 3"/>
          <p:cNvSpPr/>
          <p:nvPr/>
        </p:nvSpPr>
        <p:spPr>
          <a:xfrm>
            <a:off x="4096385" y="422338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089400" y="421894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4964e-06 2.16279e-05 C -0.0133126 -0.00255773 -0.0500486 2.16279e-05 -0.0692153 -0.021645 C -0.0883821 -0.0433118 -0.0919092 -0.091391 -0.0958357 -0.108312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" y="-5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9074e-05 -4.11286e-06 C -0.00798738 -0.0102535 -0.0282984 -0.0277277 -0.0427776 -0.0621722 C -0.0572567 -0.0966162 -0.067362 -0.151475 -0.0724397 -0.172226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" y="-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4" grpId="1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04945" y="377698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3" name="Oval 2"/>
          <p:cNvSpPr/>
          <p:nvPr/>
        </p:nvSpPr>
        <p:spPr>
          <a:xfrm>
            <a:off x="4004945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6" name="Oval 5"/>
          <p:cNvSpPr/>
          <p:nvPr/>
        </p:nvSpPr>
        <p:spPr>
          <a:xfrm>
            <a:off x="3209290" y="302768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9890" y="347345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6111 L 0.342448 -0.125 L 0.343073 0.208426 " pathEditMode="relative" ptsTypes="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0677083 -0.234907 L 0.397135 -0.232593 L 0.39776 0.095 " pathEditMode="relative" ptsTypes="">
                                      <p:cBhvr>
                                        <p:cTn id="8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7" grpId="0" animBg="1"/>
      <p:bldP spid="16" grpId="0" animBg="1"/>
      <p:bldP spid="13" grpId="0" animBg="1"/>
      <p:bldP spid="15" grpId="0" animBg="1"/>
      <p:bldP spid="14" grpId="0" animBg="1"/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04945" y="377698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3" name="Oval 2"/>
          <p:cNvSpPr/>
          <p:nvPr/>
        </p:nvSpPr>
        <p:spPr>
          <a:xfrm>
            <a:off x="4004945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6" name="Oval 5"/>
          <p:cNvSpPr/>
          <p:nvPr/>
        </p:nvSpPr>
        <p:spPr>
          <a:xfrm>
            <a:off x="7771130" y="413448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385685" y="448691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rot="12420000">
            <a:off x="11529060" y="425069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rot="12420000">
            <a:off x="11574145" y="43484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71130" y="413448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385685" y="448691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286625" y="376872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5" name="Oval 4"/>
          <p:cNvSpPr/>
          <p:nvPr/>
        </p:nvSpPr>
        <p:spPr>
          <a:xfrm>
            <a:off x="6690360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11" name="Text Box 10"/>
          <p:cNvSpPr txBox="1"/>
          <p:nvPr/>
        </p:nvSpPr>
        <p:spPr>
          <a:xfrm>
            <a:off x="11495405" y="4211320"/>
            <a:ext cx="2819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accent5"/>
                </a:solidFill>
              </a:rPr>
              <a:t>O</a:t>
            </a:r>
            <a:endParaRPr lang="en-US" sz="1000">
              <a:solidFill>
                <a:schemeClr val="accent5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1542395" y="4313555"/>
            <a:ext cx="26162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800">
                <a:solidFill>
                  <a:schemeClr val="accent5"/>
                </a:solidFill>
              </a:rPr>
              <a:t>O</a:t>
            </a:r>
            <a:endParaRPr lang="en-US" sz="8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71130" y="413448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385685" y="448691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286625" y="376872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5" name="Oval 4"/>
          <p:cNvSpPr/>
          <p:nvPr/>
        </p:nvSpPr>
        <p:spPr>
          <a:xfrm>
            <a:off x="6690360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2" name="Oval 1"/>
          <p:cNvSpPr/>
          <p:nvPr/>
        </p:nvSpPr>
        <p:spPr>
          <a:xfrm rot="12420000">
            <a:off x="8185829" y="471126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 rot="12420000">
            <a:off x="8281714" y="491573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206740" y="470979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accent5"/>
                </a:solidFill>
              </a:rPr>
              <a:t>O</a:t>
            </a:r>
            <a:endParaRPr lang="en-US">
              <a:solidFill>
                <a:schemeClr val="accent5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272780" y="488759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accent5"/>
                </a:solidFill>
              </a:rPr>
              <a:t>O</a:t>
            </a:r>
            <a:endParaRPr lang="en-US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71130" y="413448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385685" y="448691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286625" y="376872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5" name="Oval 4"/>
          <p:cNvSpPr/>
          <p:nvPr/>
        </p:nvSpPr>
        <p:spPr>
          <a:xfrm>
            <a:off x="6700520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/>
              <a:t>H</a:t>
            </a:r>
            <a:endParaRPr lang="en-US" baseline="30000"/>
          </a:p>
        </p:txBody>
      </p:sp>
      <p:sp>
        <p:nvSpPr>
          <p:cNvPr id="2" name="Oval 1"/>
          <p:cNvSpPr/>
          <p:nvPr/>
        </p:nvSpPr>
        <p:spPr>
          <a:xfrm rot="12420000">
            <a:off x="8291239" y="393275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 rot="12420000">
            <a:off x="8083594" y="503829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1830" y="393128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084820" y="5030470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6781800" y="457835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378065" y="386016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286625" y="376872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690360" y="448691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2" name="Oval 1"/>
          <p:cNvSpPr/>
          <p:nvPr/>
        </p:nvSpPr>
        <p:spPr>
          <a:xfrm rot="12420000">
            <a:off x="8291239" y="393275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 rot="12420000">
            <a:off x="8083594" y="5038293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1830" y="393128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084820" y="5030470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5" name="Text Box 74"/>
          <p:cNvSpPr txBox="1"/>
          <p:nvPr/>
        </p:nvSpPr>
        <p:spPr>
          <a:xfrm>
            <a:off x="4873625" y="-706755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5384165" y="596074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5991860" y="318389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5085715" y="18923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124200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s 39"/>
          <p:cNvSpPr/>
          <p:nvPr/>
        </p:nvSpPr>
        <p:spPr>
          <a:xfrm>
            <a:off x="8992235" y="207962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/>
        </p:nvSpPr>
        <p:spPr>
          <a:xfrm rot="5400000">
            <a:off x="784098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72715" y="617537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435340" y="617537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45" name="Rectangles 44"/>
          <p:cNvSpPr/>
          <p:nvPr/>
        </p:nvSpPr>
        <p:spPr>
          <a:xfrm rot="5400000">
            <a:off x="4274820" y="92837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61060" y="365061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06145" y="374840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2470" y="403288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7555" y="413067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9573895" y="381825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rot="12420000">
            <a:off x="11677650" y="386842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rot="12420000">
            <a:off x="11722735" y="396621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2420000">
            <a:off x="11283315" y="372046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2420000">
            <a:off x="11328400" y="381825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1490980" y="383667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Text Box 61"/>
          <p:cNvSpPr txBox="1"/>
          <p:nvPr/>
        </p:nvSpPr>
        <p:spPr>
          <a:xfrm>
            <a:off x="1746885" y="398716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090785" y="396430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1182370"/>
            <a:ext cx="2001520" cy="200152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 rot="19740000">
            <a:off x="6555105" y="15500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 rot="1560000">
            <a:off x="5243195" y="153860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 rot="3780000">
            <a:off x="5542280" y="123444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 rot="7920000">
            <a:off x="6328410" y="121983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 rot="5400000">
            <a:off x="5918835" y="115951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12420000">
            <a:off x="8291239" y="393275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1830" y="393128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5" name="Text Box 74"/>
          <p:cNvSpPr txBox="1"/>
          <p:nvPr/>
        </p:nvSpPr>
        <p:spPr>
          <a:xfrm>
            <a:off x="4873625" y="-706755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38695" y="504126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113270" y="463804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239000" y="496379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7021830" y="45466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 rot="12420000">
            <a:off x="7308259" y="468078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7309485" y="467296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7" grpId="1" animBg="1"/>
      <p:bldP spid="16" grpId="1" animBg="1"/>
      <p:bldP spid="13" grpId="1" animBg="1"/>
      <p:bldP spid="15" grpId="1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7098665" y="1175702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73240" y="1135380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475605" y="12736195"/>
            <a:ext cx="14243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latin typeface="EB Garamond" charset="0"/>
                <a:cs typeface="EB Garamond" charset="0"/>
              </a:rPr>
              <a:t>Elektrolyt-</a:t>
            </a:r>
            <a:endParaRPr lang="en-US" sz="2400">
              <a:latin typeface="EB Garamond" charset="0"/>
              <a:cs typeface="EB Garamond" charset="0"/>
            </a:endParaRPr>
          </a:p>
          <a:p>
            <a:pPr algn="ctr"/>
            <a:r>
              <a:rPr lang="en-US" sz="2400">
                <a:latin typeface="EB Garamond" charset="0"/>
                <a:cs typeface="EB Garamond" charset="0"/>
              </a:rPr>
              <a:t>membran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083300" y="9959340"/>
            <a:ext cx="208280" cy="27768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177155" y="6964680"/>
            <a:ext cx="20205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Funktion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3215640" y="885507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9083675" y="8855075"/>
            <a:ext cx="75565" cy="40957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 rot="5400000">
            <a:off x="7932420" y="77038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2764155" y="12950825"/>
            <a:ext cx="978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Anode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526780" y="12950825"/>
            <a:ext cx="11893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latin typeface="EB Garamond" charset="0"/>
                <a:cs typeface="EB Garamond" charset="0"/>
              </a:rPr>
              <a:t>Kathode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sp>
        <p:nvSpPr>
          <p:cNvPr id="28" name="Rectangles 27"/>
          <p:cNvSpPr/>
          <p:nvPr/>
        </p:nvSpPr>
        <p:spPr>
          <a:xfrm rot="5400000">
            <a:off x="4366260" y="7703820"/>
            <a:ext cx="75565" cy="23774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52500" y="1042606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97585" y="1052385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03910" y="1080833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48995" y="10906125"/>
            <a:ext cx="182880" cy="18288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10800000">
            <a:off x="9665335" y="10593705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 rot="12420000">
            <a:off x="11769090" y="1064387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 rot="12420000">
            <a:off x="11814175" y="1074166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 rot="12420000">
            <a:off x="11374755" y="1049591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12420000">
            <a:off x="11419840" y="10593705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>
            <a:off x="1582420" y="10612120"/>
            <a:ext cx="1170940" cy="668655"/>
          </a:xfrm>
          <a:prstGeom prst="right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Text Box 51"/>
          <p:cNvSpPr txBox="1"/>
          <p:nvPr/>
        </p:nvSpPr>
        <p:spPr>
          <a:xfrm>
            <a:off x="1838325" y="10762615"/>
            <a:ext cx="439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H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10182225" y="10739755"/>
            <a:ext cx="428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latin typeface="EB Garamond" charset="0"/>
                <a:cs typeface="EB Garamond" charset="0"/>
              </a:rPr>
              <a:t>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endParaRPr lang="en-US" baseline="-25000">
              <a:latin typeface="EB Garamond" charset="0"/>
              <a:cs typeface="EB Garamond" charset="0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680" y="7957820"/>
            <a:ext cx="2001520" cy="2001520"/>
          </a:xfrm>
          <a:prstGeom prst="rect">
            <a:avLst/>
          </a:prstGeom>
        </p:spPr>
      </p:pic>
      <p:sp>
        <p:nvSpPr>
          <p:cNvPr id="58" name="Rectangles 57"/>
          <p:cNvSpPr/>
          <p:nvPr/>
        </p:nvSpPr>
        <p:spPr>
          <a:xfrm rot="19740000">
            <a:off x="6646545" y="832548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Rectangles 63"/>
          <p:cNvSpPr/>
          <p:nvPr/>
        </p:nvSpPr>
        <p:spPr>
          <a:xfrm rot="1560000">
            <a:off x="5334635" y="831405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Rectangles 64"/>
          <p:cNvSpPr/>
          <p:nvPr/>
        </p:nvSpPr>
        <p:spPr>
          <a:xfrm rot="3780000">
            <a:off x="5633720" y="800989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Rectangles 65"/>
          <p:cNvSpPr/>
          <p:nvPr/>
        </p:nvSpPr>
        <p:spPr>
          <a:xfrm rot="7920000">
            <a:off x="6419850" y="7995285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Rectangles 66"/>
          <p:cNvSpPr/>
          <p:nvPr/>
        </p:nvSpPr>
        <p:spPr>
          <a:xfrm rot="5400000">
            <a:off x="6010275" y="7934960"/>
            <a:ext cx="356235" cy="762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998970" y="1167955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781800" y="1126236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0" name="Oval 69"/>
          <p:cNvSpPr/>
          <p:nvPr/>
        </p:nvSpPr>
        <p:spPr>
          <a:xfrm rot="12420000">
            <a:off x="8382679" y="1070820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 rot="12420000">
            <a:off x="7068229" y="1139654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Text Box 71"/>
          <p:cNvSpPr txBox="1"/>
          <p:nvPr/>
        </p:nvSpPr>
        <p:spPr>
          <a:xfrm>
            <a:off x="8383270" y="1070673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3" name="Text Box 72"/>
          <p:cNvSpPr txBox="1"/>
          <p:nvPr/>
        </p:nvSpPr>
        <p:spPr>
          <a:xfrm>
            <a:off x="7069455" y="1138872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77" name="Picture 76" descr="image-removebg-preview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65" y="2413635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77" name="Picture 76" descr="image-removebg-preview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365" y="2413635"/>
            <a:ext cx="2143125" cy="2143125"/>
          </a:xfrm>
          <a:prstGeom prst="rect">
            <a:avLst/>
          </a:prstGeom>
        </p:spPr>
      </p:pic>
      <p:sp>
        <p:nvSpPr>
          <p:cNvPr id="82" name="Multiply 81"/>
          <p:cNvSpPr/>
          <p:nvPr/>
        </p:nvSpPr>
        <p:spPr>
          <a:xfrm>
            <a:off x="2000885" y="1747520"/>
            <a:ext cx="3474720" cy="3474720"/>
          </a:xfrm>
          <a:prstGeom prst="mathMultiply">
            <a:avLst>
              <a:gd name="adj1" fmla="val 184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77" name="Picture 76" descr="image-removebg-preview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365" y="2413635"/>
            <a:ext cx="2143125" cy="2143125"/>
          </a:xfrm>
          <a:prstGeom prst="rect">
            <a:avLst/>
          </a:prstGeom>
        </p:spPr>
      </p:pic>
      <p:sp>
        <p:nvSpPr>
          <p:cNvPr id="82" name="Multiply 81"/>
          <p:cNvSpPr/>
          <p:nvPr/>
        </p:nvSpPr>
        <p:spPr>
          <a:xfrm>
            <a:off x="2000885" y="1747520"/>
            <a:ext cx="3474720" cy="3474720"/>
          </a:xfrm>
          <a:prstGeom prst="mathMultiply">
            <a:avLst>
              <a:gd name="adj1" fmla="val 184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220" y="2413635"/>
            <a:ext cx="2253615" cy="2253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-3676650" y="1654810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2" name="Picture 11" descr="image-removebg-preview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055" y="7524115"/>
            <a:ext cx="2143125" cy="2143125"/>
          </a:xfrm>
          <a:prstGeom prst="rect">
            <a:avLst/>
          </a:prstGeom>
        </p:spPr>
      </p:pic>
      <p:sp>
        <p:nvSpPr>
          <p:cNvPr id="13" name="Multiply 12"/>
          <p:cNvSpPr/>
          <p:nvPr/>
        </p:nvSpPr>
        <p:spPr>
          <a:xfrm>
            <a:off x="2060575" y="6858000"/>
            <a:ext cx="3474720" cy="3474720"/>
          </a:xfrm>
          <a:prstGeom prst="mathMultiply">
            <a:avLst>
              <a:gd name="adj1" fmla="val 184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910" y="7524115"/>
            <a:ext cx="2253615" cy="2253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2472690"/>
            <a:ext cx="2532380" cy="25323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360170" y="4765675"/>
            <a:ext cx="1759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Fahrzeuge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405" y="1654810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2472690"/>
            <a:ext cx="2532380" cy="25323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75" y="2258060"/>
            <a:ext cx="2341245" cy="23412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667250" y="4765675"/>
            <a:ext cx="3129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Wärmeproduktion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60170" y="4765675"/>
            <a:ext cx="1759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Fahrzeuge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6910" y="1654810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3"/>
          <p:cNvSpPr txBox="1"/>
          <p:nvPr/>
        </p:nvSpPr>
        <p:spPr>
          <a:xfrm>
            <a:off x="4780915" y="18923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2472690"/>
            <a:ext cx="2532380" cy="25323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75" y="2258060"/>
            <a:ext cx="2341245" cy="23412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145" y="2611755"/>
            <a:ext cx="2253615" cy="22536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667250" y="4765675"/>
            <a:ext cx="3129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Wärmeproduktion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907145" y="4765675"/>
            <a:ext cx="24231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Stromspeicher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60170" y="4765675"/>
            <a:ext cx="1759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Fahrzeuge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14055" y="1654810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738880" y="-86296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7826375"/>
            <a:ext cx="2532380" cy="25323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130" y="7611745"/>
            <a:ext cx="2341245" cy="23412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7965440"/>
            <a:ext cx="2253615" cy="225361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4700905" y="10119360"/>
            <a:ext cx="3129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Wärmeproduktion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940800" y="10119360"/>
            <a:ext cx="24231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Stromspeicher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393825" y="10119360"/>
            <a:ext cx="1759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Fahrzeuge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20565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8347710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4844415" y="685800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-3903980" y="5878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7805" y="4027170"/>
            <a:ext cx="2532380" cy="2532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7826375"/>
            <a:ext cx="2532380" cy="25323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130" y="7611745"/>
            <a:ext cx="2341245" cy="23412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7965440"/>
            <a:ext cx="2253615" cy="225361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4700905" y="10119360"/>
            <a:ext cx="3129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Wärmeproduktion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940800" y="10119360"/>
            <a:ext cx="24231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Stromspeicher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393825" y="10119360"/>
            <a:ext cx="1759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latin typeface="EB Garamond" charset="0"/>
                <a:cs typeface="EB Garamond" charset="0"/>
              </a:rPr>
              <a:t>Fahrzeuge</a:t>
            </a:r>
            <a:endParaRPr lang="en-US" sz="3200">
              <a:latin typeface="EB Garamond" charset="0"/>
              <a:cs typeface="EB Garamond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20565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8347710" y="7008495"/>
            <a:ext cx="3440430" cy="401193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Oval 20!!"/>
          <p:cNvSpPr/>
          <p:nvPr/>
        </p:nvSpPr>
        <p:spPr>
          <a:xfrm>
            <a:off x="6409055" y="5285105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!!"/>
          <p:cNvSpPr/>
          <p:nvPr/>
        </p:nvSpPr>
        <p:spPr>
          <a:xfrm>
            <a:off x="6183630" y="4881880"/>
            <a:ext cx="182880" cy="182880"/>
          </a:xfrm>
          <a:prstGeom prst="ellipse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-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!!"/>
          <p:cNvSpPr/>
          <p:nvPr/>
        </p:nvSpPr>
        <p:spPr>
          <a:xfrm>
            <a:off x="6309360" y="520763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4" name="Oval 73!!"/>
          <p:cNvSpPr/>
          <p:nvPr/>
        </p:nvSpPr>
        <p:spPr>
          <a:xfrm>
            <a:off x="6092190" y="479044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!!"/>
          <p:cNvSpPr/>
          <p:nvPr/>
        </p:nvSpPr>
        <p:spPr>
          <a:xfrm rot="12420000">
            <a:off x="6378619" y="492462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6379845" y="491680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844415" y="6858000"/>
            <a:ext cx="2630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Anwendung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-3903980" y="5878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!!"/>
          <p:cNvSpPr/>
          <p:nvPr/>
        </p:nvSpPr>
        <p:spPr>
          <a:xfrm>
            <a:off x="6807200" y="506476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31" name="Oval 30!!"/>
          <p:cNvSpPr/>
          <p:nvPr/>
        </p:nvSpPr>
        <p:spPr>
          <a:xfrm>
            <a:off x="6675120" y="482219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7805" y="4027170"/>
            <a:ext cx="2532380" cy="2532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-removebg-preview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795" y="4740910"/>
            <a:ext cx="1353185" cy="78295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410460" y="52393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 rot="12420000">
            <a:off x="2479719" y="495637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193290" y="482219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2480945" y="494855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805" y="4027170"/>
            <a:ext cx="2532380" cy="25323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-3903980" y="5878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!!"/>
          <p:cNvSpPr/>
          <p:nvPr/>
        </p:nvSpPr>
        <p:spPr>
          <a:xfrm>
            <a:off x="3639820" y="33655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31" name="Oval 30!!"/>
          <p:cNvSpPr/>
          <p:nvPr/>
        </p:nvSpPr>
        <p:spPr>
          <a:xfrm>
            <a:off x="3507740" y="312293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2410460" y="52393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 rot="12420000">
            <a:off x="2479719" y="495637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193290" y="482219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2480945" y="494855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7805" y="4027170"/>
            <a:ext cx="2532380" cy="25323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-3903980" y="5878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!!"/>
          <p:cNvSpPr/>
          <p:nvPr/>
        </p:nvSpPr>
        <p:spPr>
          <a:xfrm>
            <a:off x="3639820" y="33655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31" name="Oval 30!!"/>
          <p:cNvSpPr/>
          <p:nvPr/>
        </p:nvSpPr>
        <p:spPr>
          <a:xfrm>
            <a:off x="3507740" y="312293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pic>
        <p:nvPicPr>
          <p:cNvPr id="25" name="Picture 24" descr="image-removebg-preview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20" y="3883660"/>
            <a:ext cx="1353185" cy="782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2249170" y="94303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 rot="12420000">
            <a:off x="2318429" y="914737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032000" y="901319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2319655" y="913955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515" y="8218170"/>
            <a:ext cx="2532380" cy="25323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-4065270" y="10069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!!"/>
          <p:cNvSpPr/>
          <p:nvPr/>
        </p:nvSpPr>
        <p:spPr>
          <a:xfrm>
            <a:off x="3478530" y="75565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31" name="Oval 30!!"/>
          <p:cNvSpPr/>
          <p:nvPr/>
        </p:nvSpPr>
        <p:spPr>
          <a:xfrm>
            <a:off x="3346450" y="731393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pic>
        <p:nvPicPr>
          <p:cNvPr id="25" name="Picture 24" descr="image-removebg-preview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30" y="8074660"/>
            <a:ext cx="1353185" cy="7829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136515" y="-80708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11" name="Picture 10" descr="output-onlinepngtools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305" y="7313930"/>
            <a:ext cx="9448800" cy="504825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569210" y="7001510"/>
            <a:ext cx="70535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>
                <a:latin typeface="EB Garamond" charset="0"/>
                <a:cs typeface="EB Garamond" charset="0"/>
              </a:rPr>
              <a:t>Treibhausgas-Emissionen über den gesamten Lebenszyklus eines Autos</a:t>
            </a:r>
            <a:endParaRPr lang="en-US">
              <a:latin typeface="EB Garamond" charset="0"/>
              <a:cs typeface="EB Garamond" charset="0"/>
            </a:endParaRPr>
          </a:p>
          <a:p>
            <a:pPr algn="ctr"/>
            <a:r>
              <a:rPr lang="en-US">
                <a:latin typeface="EB Garamond" charset="0"/>
                <a:cs typeface="EB Garamond" charset="0"/>
              </a:rPr>
              <a:t>CO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r>
              <a:rPr lang="en-US">
                <a:latin typeface="EB Garamond" charset="0"/>
                <a:cs typeface="EB Garamond" charset="0"/>
              </a:rPr>
              <a:t> Emissionen in g / km</a:t>
            </a:r>
            <a:endParaRPr lang="en-US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2249170" y="9430385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6" name="Oval 75"/>
          <p:cNvSpPr/>
          <p:nvPr/>
        </p:nvSpPr>
        <p:spPr>
          <a:xfrm rot="12420000">
            <a:off x="2318429" y="9147378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032000" y="901319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77" name="Text Box 76"/>
          <p:cNvSpPr txBox="1"/>
          <p:nvPr/>
        </p:nvSpPr>
        <p:spPr>
          <a:xfrm>
            <a:off x="2319655" y="9139555"/>
            <a:ext cx="36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38880" y="194945"/>
            <a:ext cx="5003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Bezug zum Klimawandel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515" y="8218170"/>
            <a:ext cx="2532380" cy="25323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-4065270" y="10069830"/>
            <a:ext cx="20612100" cy="35159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!!"/>
          <p:cNvSpPr/>
          <p:nvPr/>
        </p:nvSpPr>
        <p:spPr>
          <a:xfrm>
            <a:off x="3478530" y="755650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sp>
        <p:nvSpPr>
          <p:cNvPr id="31" name="Oval 30!!"/>
          <p:cNvSpPr/>
          <p:nvPr/>
        </p:nvSpPr>
        <p:spPr>
          <a:xfrm>
            <a:off x="3346450" y="7313930"/>
            <a:ext cx="365760" cy="365760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endParaRPr lang="en-US"/>
          </a:p>
        </p:txBody>
      </p:sp>
      <p:pic>
        <p:nvPicPr>
          <p:cNvPr id="25" name="Picture 24" descr="image-removebg-preview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30" y="8074660"/>
            <a:ext cx="1353185" cy="7829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136515" y="-80708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11" name="Picture 10" descr="output-onlinepngtools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305" y="-5311775"/>
            <a:ext cx="9448800" cy="504825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2569210" y="1534160"/>
            <a:ext cx="70535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>
                <a:latin typeface="EB Garamond" charset="0"/>
                <a:cs typeface="EB Garamond" charset="0"/>
              </a:rPr>
              <a:t>Treibhausgas-Emissionen über den gesamten Lebenszyklus eines Autos</a:t>
            </a:r>
            <a:endParaRPr lang="en-US">
              <a:latin typeface="EB Garamond" charset="0"/>
              <a:cs typeface="EB Garamond" charset="0"/>
            </a:endParaRPr>
          </a:p>
          <a:p>
            <a:pPr algn="ctr"/>
            <a:r>
              <a:rPr lang="en-US">
                <a:latin typeface="EB Garamond" charset="0"/>
                <a:cs typeface="EB Garamond" charset="0"/>
              </a:rPr>
              <a:t>CO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r>
              <a:rPr lang="en-US">
                <a:latin typeface="EB Garamond" charset="0"/>
                <a:cs typeface="EB Garamond" charset="0"/>
              </a:rPr>
              <a:t> Emissionen in g / km</a:t>
            </a:r>
            <a:endParaRPr lang="en-US">
              <a:latin typeface="EB Garamond" charset="0"/>
              <a:cs typeface="EB Garamond" charset="0"/>
            </a:endParaRPr>
          </a:p>
        </p:txBody>
      </p:sp>
      <p:pic>
        <p:nvPicPr>
          <p:cNvPr id="13" name="Picture 12" descr="output-onlinepngtools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305" y="2059305"/>
            <a:ext cx="9448800" cy="504825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569210" y="-5624195"/>
            <a:ext cx="70535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>
                <a:latin typeface="EB Garamond" charset="0"/>
                <a:cs typeface="EB Garamond" charset="0"/>
              </a:rPr>
              <a:t>Treibhausgas-Emissionen über den gesamten Lebenszyklus eines Autos</a:t>
            </a:r>
            <a:endParaRPr lang="en-US">
              <a:latin typeface="EB Garamond" charset="0"/>
              <a:cs typeface="EB Garamond" charset="0"/>
            </a:endParaRPr>
          </a:p>
          <a:p>
            <a:pPr algn="ctr"/>
            <a:r>
              <a:rPr lang="en-US">
                <a:latin typeface="EB Garamond" charset="0"/>
                <a:cs typeface="EB Garamond" charset="0"/>
              </a:rPr>
              <a:t>CO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r>
              <a:rPr lang="en-US">
                <a:latin typeface="EB Garamond" charset="0"/>
                <a:cs typeface="EB Garamond" charset="0"/>
              </a:rPr>
              <a:t> Emissionen in g / km</a:t>
            </a:r>
            <a:endParaRPr lang="en-US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H="1">
            <a:off x="2782570" y="1413510"/>
            <a:ext cx="10795" cy="48260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2569210" y="6979285"/>
            <a:ext cx="70535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>
                <a:latin typeface="EB Garamond" charset="0"/>
                <a:cs typeface="EB Garamond" charset="0"/>
              </a:rPr>
              <a:t>Treibhausgas-Emissionen über den gesamten Lebenszyklus eines Autos</a:t>
            </a:r>
            <a:endParaRPr lang="en-US">
              <a:latin typeface="EB Garamond" charset="0"/>
              <a:cs typeface="EB Garamond" charset="0"/>
            </a:endParaRPr>
          </a:p>
          <a:p>
            <a:pPr algn="ctr"/>
            <a:r>
              <a:rPr lang="en-US">
                <a:latin typeface="EB Garamond" charset="0"/>
                <a:cs typeface="EB Garamond" charset="0"/>
              </a:rPr>
              <a:t>CO</a:t>
            </a:r>
            <a:r>
              <a:rPr lang="en-US" baseline="-25000">
                <a:latin typeface="EB Garamond" charset="0"/>
                <a:cs typeface="EB Garamond" charset="0"/>
              </a:rPr>
              <a:t>2</a:t>
            </a:r>
            <a:r>
              <a:rPr lang="en-US">
                <a:latin typeface="EB Garamond" charset="0"/>
                <a:cs typeface="EB Garamond" charset="0"/>
              </a:rPr>
              <a:t> Emissionen in g / km</a:t>
            </a:r>
            <a:endParaRPr lang="en-US">
              <a:latin typeface="EB Garamond" charset="0"/>
              <a:cs typeface="EB Garamond" charset="0"/>
            </a:endParaRPr>
          </a:p>
        </p:txBody>
      </p:sp>
      <p:pic>
        <p:nvPicPr>
          <p:cNvPr id="14" name="Picture 13" descr="output-onlinepngtools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305" y="7504430"/>
            <a:ext cx="9448800" cy="5048250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pic>
        <p:nvPicPr>
          <p:cNvPr id="11" name="Picture 10" descr="Unweltfreundli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020" y="1734820"/>
            <a:ext cx="1707515" cy="170751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pic>
        <p:nvPicPr>
          <p:cNvPr id="11" name="Picture 10" descr="Unweltfreundli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020" y="1734820"/>
            <a:ext cx="1707515" cy="1707515"/>
          </a:xfrm>
          <a:prstGeom prst="rect">
            <a:avLst/>
          </a:prstGeom>
        </p:spPr>
      </p:pic>
      <p:pic>
        <p:nvPicPr>
          <p:cNvPr id="12" name="Picture 11" descr="Vielseiti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970" y="1744980"/>
            <a:ext cx="1697355" cy="169735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8" name="Picture 7" descr="Kost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132580"/>
            <a:ext cx="1678305" cy="1678305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pic>
        <p:nvPicPr>
          <p:cNvPr id="11" name="Picture 10" descr="Unweltfreundli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020" y="1734820"/>
            <a:ext cx="1707515" cy="1707515"/>
          </a:xfrm>
          <a:prstGeom prst="rect">
            <a:avLst/>
          </a:prstGeom>
        </p:spPr>
      </p:pic>
      <p:pic>
        <p:nvPicPr>
          <p:cNvPr id="12" name="Picture 11" descr="Vielseiti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970" y="1744980"/>
            <a:ext cx="1697355" cy="169735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5" name="Picture 4" descr="Haltbarke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65" y="3577590"/>
            <a:ext cx="2892425" cy="3096260"/>
          </a:xfrm>
          <a:prstGeom prst="rect">
            <a:avLst/>
          </a:prstGeom>
        </p:spPr>
      </p:pic>
      <p:pic>
        <p:nvPicPr>
          <p:cNvPr id="8" name="Picture 7" descr="Kost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132580"/>
            <a:ext cx="1678305" cy="1678305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pic>
        <p:nvPicPr>
          <p:cNvPr id="11" name="Picture 10" descr="Unweltfreundli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4020" y="1734820"/>
            <a:ext cx="1707515" cy="1707515"/>
          </a:xfrm>
          <a:prstGeom prst="rect">
            <a:avLst/>
          </a:prstGeom>
        </p:spPr>
      </p:pic>
      <p:pic>
        <p:nvPicPr>
          <p:cNvPr id="12" name="Picture 11" descr="Vielseiti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970" y="1744980"/>
            <a:ext cx="1697355" cy="169735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52695" y="205105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4" name="Picture 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737995"/>
            <a:ext cx="1726565" cy="1701165"/>
          </a:xfrm>
          <a:prstGeom prst="rect">
            <a:avLst/>
          </a:prstGeom>
        </p:spPr>
      </p:pic>
      <p:pic>
        <p:nvPicPr>
          <p:cNvPr id="6" name="Picture 5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193540"/>
            <a:ext cx="1749425" cy="1724025"/>
          </a:xfrm>
          <a:prstGeom prst="rect">
            <a:avLst/>
          </a:prstGeom>
        </p:spPr>
      </p:pic>
      <p:pic>
        <p:nvPicPr>
          <p:cNvPr id="5" name="Picture 4" descr="Haltbarke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65" y="3577590"/>
            <a:ext cx="2892425" cy="3096260"/>
          </a:xfrm>
          <a:prstGeom prst="rect">
            <a:avLst/>
          </a:prstGeom>
        </p:spPr>
      </p:pic>
      <p:pic>
        <p:nvPicPr>
          <p:cNvPr id="8" name="Picture 7" descr="Kost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132580"/>
            <a:ext cx="1678305" cy="1678305"/>
          </a:xfrm>
          <a:prstGeom prst="rect">
            <a:avLst/>
          </a:prstGeom>
        </p:spPr>
      </p:pic>
      <p:pic>
        <p:nvPicPr>
          <p:cNvPr id="9" name="Picture 8" descr="Wassersto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970" y="4009390"/>
            <a:ext cx="1939290" cy="2092960"/>
          </a:xfrm>
          <a:prstGeom prst="rect">
            <a:avLst/>
          </a:prstGeom>
        </p:spPr>
      </p:pic>
      <p:pic>
        <p:nvPicPr>
          <p:cNvPr id="10" name="Picture 9" descr="Effizienz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145" y="1737995"/>
            <a:ext cx="1742440" cy="1734820"/>
          </a:xfrm>
          <a:prstGeom prst="rect">
            <a:avLst/>
          </a:prstGeom>
        </p:spPr>
      </p:pic>
      <p:pic>
        <p:nvPicPr>
          <p:cNvPr id="11" name="Picture 10" descr="Unweltfreundli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020" y="1734820"/>
            <a:ext cx="1707515" cy="1707515"/>
          </a:xfrm>
          <a:prstGeom prst="rect">
            <a:avLst/>
          </a:prstGeom>
        </p:spPr>
      </p:pic>
      <p:pic>
        <p:nvPicPr>
          <p:cNvPr id="12" name="Picture 11" descr="Vielseiti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970" y="1744980"/>
            <a:ext cx="1697355" cy="169735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2793365" y="1413510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30140" y="205105"/>
            <a:ext cx="23317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Diskussion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052695" y="6858000"/>
            <a:ext cx="2086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Reflexion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pic>
        <p:nvPicPr>
          <p:cNvPr id="14" name="Picture 13" descr="image-removebg-preview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8390890"/>
            <a:ext cx="1726565" cy="1701165"/>
          </a:xfrm>
          <a:prstGeom prst="rect">
            <a:avLst/>
          </a:prstGeom>
        </p:spPr>
      </p:pic>
      <p:pic>
        <p:nvPicPr>
          <p:cNvPr id="15" name="Picture 14" descr="image-removebg-preview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10846435"/>
            <a:ext cx="1749425" cy="1724025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 flipH="1">
            <a:off x="2782570" y="8066405"/>
            <a:ext cx="10795" cy="4826000"/>
          </a:xfrm>
          <a:prstGeom prst="line">
            <a:avLst/>
          </a:prstGeom>
          <a:ln w="254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Haltbarke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65" y="10230485"/>
            <a:ext cx="2892425" cy="3096260"/>
          </a:xfrm>
          <a:prstGeom prst="rect">
            <a:avLst/>
          </a:prstGeom>
        </p:spPr>
      </p:pic>
      <p:pic>
        <p:nvPicPr>
          <p:cNvPr id="18" name="Picture 17" descr="Kost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0785475"/>
            <a:ext cx="1678305" cy="1678305"/>
          </a:xfrm>
          <a:prstGeom prst="rect">
            <a:avLst/>
          </a:prstGeom>
        </p:spPr>
      </p:pic>
      <p:pic>
        <p:nvPicPr>
          <p:cNvPr id="19" name="Picture 18" descr="Wassersto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970" y="10662285"/>
            <a:ext cx="1939290" cy="2092960"/>
          </a:xfrm>
          <a:prstGeom prst="rect">
            <a:avLst/>
          </a:prstGeom>
        </p:spPr>
      </p:pic>
      <p:pic>
        <p:nvPicPr>
          <p:cNvPr id="20" name="Picture 19" descr="Effizienz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145" y="8390890"/>
            <a:ext cx="1742440" cy="1734820"/>
          </a:xfrm>
          <a:prstGeom prst="rect">
            <a:avLst/>
          </a:prstGeom>
        </p:spPr>
      </p:pic>
      <p:pic>
        <p:nvPicPr>
          <p:cNvPr id="21" name="Picture 20" descr="Unweltfreundli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020" y="8387715"/>
            <a:ext cx="1707515" cy="1707515"/>
          </a:xfrm>
          <a:prstGeom prst="rect">
            <a:avLst/>
          </a:prstGeom>
        </p:spPr>
      </p:pic>
      <p:pic>
        <p:nvPicPr>
          <p:cNvPr id="22" name="Picture 21" descr="Vielseiti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970" y="8397875"/>
            <a:ext cx="1697355" cy="1697355"/>
          </a:xfrm>
          <a:prstGeom prst="rect">
            <a:avLst/>
          </a:prstGeom>
        </p:spPr>
      </p:pic>
      <p:sp>
        <p:nvSpPr>
          <p:cNvPr id="24" name="Rectangles 23"/>
          <p:cNvSpPr/>
          <p:nvPr/>
        </p:nvSpPr>
        <p:spPr>
          <a:xfrm>
            <a:off x="2782570" y="8066405"/>
            <a:ext cx="45720" cy="48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589915" y="1444625"/>
            <a:ext cx="110128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Welche Anwendungsbereiche (z. B. Verkehr, Industrie, Haushalte) haben das größte Potenzial für den Einsatz von Brennstoffzellen?</a:t>
            </a:r>
            <a:endParaRPr lang="en-US" sz="2800">
              <a:latin typeface="EB Garamond" charset="0"/>
              <a:cs typeface="EB Garamond" charset="0"/>
            </a:endParaRPr>
          </a:p>
          <a:p>
            <a:pPr indent="0" algn="l">
              <a:lnSpc>
                <a:spcPct val="150000"/>
              </a:lnSpc>
              <a:buFont typeface="Arial" panose="02080604020202020204" pitchFamily="34" charset="0"/>
              <a:buNone/>
            </a:pPr>
            <a:endParaRPr lang="en-US" sz="28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30140" y="205105"/>
            <a:ext cx="23317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Diskussion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89915" y="1444625"/>
            <a:ext cx="1101280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Welche Anwendungsbereiche (z. B. Verkehr, Industrie, Haushalte) haben das größte Potenzial für den Einsatz von Brennstoffzellen?</a:t>
            </a:r>
            <a:endParaRPr lang="en-US" sz="28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  <a:sym typeface="+mn-ea"/>
              </a:rPr>
              <a:t>Müssen wir eurer Meinung nach in der Zukunft in Elektro- oder Wasserstoffautos investieren?</a:t>
            </a:r>
            <a:endParaRPr lang="en-US" sz="2800">
              <a:latin typeface="EB Garamond" charset="0"/>
              <a:cs typeface="EB Garamond" charset="0"/>
            </a:endParaRPr>
          </a:p>
          <a:p>
            <a:pPr indent="0" algn="l">
              <a:lnSpc>
                <a:spcPct val="150000"/>
              </a:lnSpc>
              <a:buFont typeface="Arial" panose="02080604020202020204" pitchFamily="34" charset="0"/>
              <a:buNone/>
            </a:pPr>
            <a:endParaRPr lang="en-US" sz="28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30140" y="205105"/>
            <a:ext cx="23317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Diskussion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89915" y="1444625"/>
            <a:ext cx="110128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Welche Anwendungsbereiche (z. B. Verkehr, Industrie, Haushalte) haben das größte Potenzial für den Einsatz von Brennstoffzellen?</a:t>
            </a:r>
            <a:endParaRPr lang="en-US" sz="28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Müssen wir eurer Meinung nach in der Zukunft in Elektro- oder Wasserstoffautos investieren?</a:t>
            </a:r>
            <a:endParaRPr lang="en-US" sz="28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Würdet ihr beim heutigen Stand ein Wasserstoffauto kaufen? Was für Änderungen müssten geschehen, damit ihr eines kaufen würdet?</a:t>
            </a:r>
            <a:endParaRPr lang="en-US" sz="2800">
              <a:latin typeface="EB Garamond" charset="0"/>
              <a:cs typeface="EB Garamond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23510" y="-706755"/>
            <a:ext cx="17462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Quellen</a:t>
            </a:r>
            <a:endParaRPr lang="en-US" sz="40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30775" y="6858000"/>
            <a:ext cx="23317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Diskussion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90550" y="8097520"/>
            <a:ext cx="110128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Welche Anwendungsbereiche (z. B. Verkehr, Industrie, Haushalte) haben das größte Potenzial für den Einsatz von Brennstoffzellen?</a:t>
            </a:r>
            <a:endParaRPr lang="en-US" sz="28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Müssen wir eurer Meinung nach in der Zukunft in Elektro- oder Wasserstoffautos investieren?</a:t>
            </a:r>
            <a:endParaRPr lang="en-US" sz="28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>
                <a:latin typeface="EB Garamond" charset="0"/>
                <a:cs typeface="EB Garamond" charset="0"/>
              </a:rPr>
              <a:t>Würdet ihr beim heutigen Stand ein Wasserstoffauto kaufen? Was für Änderungen müssten geschehen, damit ihr eines kaufen würdet?</a:t>
            </a:r>
            <a:endParaRPr lang="en-US" sz="2800">
              <a:latin typeface="EB Garamond" charset="0"/>
              <a:cs typeface="EB Garamond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24145" y="205105"/>
            <a:ext cx="17462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>
                <a:latin typeface="EB Garamond" charset="0"/>
                <a:cs typeface="EB Garamond" charset="0"/>
              </a:rPr>
              <a:t>Quellen</a:t>
            </a:r>
            <a:endParaRPr lang="en-US" sz="4000">
              <a:latin typeface="EB Garamond" charset="0"/>
              <a:cs typeface="EB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53210" y="2051685"/>
            <a:ext cx="908812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000">
                <a:solidFill>
                  <a:schemeClr val="accent5"/>
                </a:solidFill>
              </a:rPr>
              <a:t>https://www.intellinews.com/ev-battery-company-inobat-auto-acquires-site-for-slovakia-randd-centre-183825/</a:t>
            </a:r>
            <a:endParaRPr lang="en-US" sz="2000">
              <a:solidFill>
                <a:schemeClr val="accent5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000">
                <a:solidFill>
                  <a:schemeClr val="accent5"/>
                </a:solidFill>
              </a:rPr>
              <a:t>https://cdn-icons-png.freepik.com/512/3658/3658144.png</a:t>
            </a:r>
            <a:endParaRPr lang="en-US" sz="2000">
              <a:solidFill>
                <a:schemeClr val="accent5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000">
                <a:solidFill>
                  <a:schemeClr val="accent5"/>
                </a:solidFill>
              </a:rPr>
              <a:t>https://cdn-icons-png.flaticon.com/512/289/289708.png</a:t>
            </a:r>
            <a:endParaRPr lang="en-US" sz="2000">
              <a:solidFill>
                <a:schemeClr val="accent5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000">
                <a:solidFill>
                  <a:schemeClr val="accent5"/>
                </a:solidFill>
              </a:rPr>
              <a:t>https://cdn-icons-png.flaticon.com/512/5998/5998565.png</a:t>
            </a:r>
            <a:endParaRPr lang="en-US" sz="2000">
              <a:solidFill>
                <a:schemeClr val="accent5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000">
                <a:solidFill>
                  <a:schemeClr val="accent5"/>
                </a:solidFill>
              </a:rPr>
              <a:t>https://cdn-icons-png.flaticon.com/512/5998/5998565.png</a:t>
            </a:r>
            <a:endParaRPr lang="en-US" sz="2000">
              <a:solidFill>
                <a:schemeClr val="accent5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3779</Words>
  <Application>WPS Presentation</Application>
  <PresentationFormat>宽屏</PresentationFormat>
  <Paragraphs>683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3" baseType="lpstr">
      <vt:lpstr>Arial</vt:lpstr>
      <vt:lpstr>SimSun</vt:lpstr>
      <vt:lpstr>Wingdings</vt:lpstr>
      <vt:lpstr>Liberation Sans</vt:lpstr>
      <vt:lpstr>EB Garamond</vt:lpstr>
      <vt:lpstr>Microsoft YaHei</vt:lpstr>
      <vt:lpstr>Droid Sans Fallback</vt:lpstr>
      <vt:lpstr>Arial Unicode MS</vt:lpstr>
      <vt:lpstr>Arial Black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adkoprek</cp:lastModifiedBy>
  <cp:revision>68</cp:revision>
  <dcterms:created xsi:type="dcterms:W3CDTF">2024-11-21T07:06:33Z</dcterms:created>
  <dcterms:modified xsi:type="dcterms:W3CDTF">2024-11-21T07:06:33Z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